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Vidyut Prajna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F6FF"/>
                </a:solidFill>
              </a:rPr>
              <a:t>AI-Driven Spatio-Temporal Intelligence for EV Charging Optimization &amp; Infrastructure Planning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" y="2606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Bengaluru digital twin • H3 spatial grid • graph-temporal demand forecast • constraint-aware scheduling • LLM planner assistant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46C94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959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Non-invasive sidecar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38404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46C94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39959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SCADA write-back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0" y="38404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46C94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39959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Planner decision support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0" y="1005840"/>
            <a:ext cx="1097280" cy="914400"/>
          </a:xfrm>
          <a:prstGeom prst="hexagon">
            <a:avLst/>
          </a:prstGeom>
          <a:solidFill>
            <a:srgbClr val="19A7CE">
              <a:alpha val="9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1463040"/>
            <a:ext cx="1097280" cy="914400"/>
          </a:xfrm>
          <a:prstGeom prst="hexagon">
            <a:avLst/>
          </a:prstGeom>
          <a:solidFill>
            <a:srgbClr val="0E9F6E">
              <a:alpha val="9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1920240"/>
            <a:ext cx="1097280" cy="914400"/>
          </a:xfrm>
          <a:prstGeom prst="hexagon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63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EBFF"/>
                </a:solidFill>
              </a:rPr>
              <a:t>Prototype repo + Dash app + LLM UX layer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1952"/>
          </a:solidFill>
          <a:ln w="12700">
            <a:solidFill>
              <a:srgbClr val="07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Problem: coincident EV charging peaks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F6FF"/>
                </a:solidFill>
              </a:rPr>
              <a:t>Bengaluru distribution grid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Vidyut Prajna prototype • read-only planner sidecar • synthetic demo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55778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800" dirty="0">
                <a:solidFill>
                  <a:srgbClr val="172033"/>
                </a:solidFill>
              </a:rPr>
              <a:t>EV charging can overlap with residential and commercial evening peak windows.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City-wide load can look stable while individual DTRs experience localized thermal stress.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Demand is non-uniform: HSR residential evening charging differs from Peenya/Yeshwanthpur fleet demand.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BESCOM planners need predictive hotspots and safe load-shifting recommendations.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0" y="1143000"/>
            <a:ext cx="4480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14300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128016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Core risk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1645920"/>
            <a:ext cx="4187952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Unmanaged charging creates localized overload events at distribution transformer level.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423160"/>
            <a:ext cx="4480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42316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256032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Planning question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48272" y="2926080"/>
            <a:ext cx="4187952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Where will demand peak, why is it risky, and which flexible loads can move?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3703320"/>
            <a:ext cx="4480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703320"/>
            <a:ext cx="73152" cy="100584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38404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</a:rPr>
              <a:t>Deployment constraint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48272" y="4206240"/>
            <a:ext cx="4187952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The solution must remain a read-only intelligence layer with zero hardware control.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1952"/>
          </a:solidFill>
          <a:ln w="12700">
            <a:solidFill>
              <a:srgbClr val="07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Proposed solution: a read-only intelligence sidecar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F6FF"/>
                </a:solidFill>
              </a:rPr>
              <a:t>No control commands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Vidyut Prajna prototype • read-only planner sidecar • synthetic demo data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1920240" cy="2057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73152" cy="205740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64592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</a:rPr>
              <a:t>Telemetry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2011680"/>
            <a:ext cx="1627632" cy="1435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OCPP sessions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Traffic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Weather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Grid load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86584" y="2240280"/>
            <a:ext cx="384048" cy="320040"/>
          </a:xfrm>
          <a:prstGeom prst="rightArrow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1508760"/>
            <a:ext cx="1920240" cy="2057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70632" y="1508760"/>
            <a:ext cx="73152" cy="205740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35224" y="164592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A7CE"/>
                </a:solidFill>
              </a:rPr>
              <a:t>H3 grid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35224" y="2011680"/>
            <a:ext cx="1627632" cy="1435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Bengaluru cells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Neighbor graph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Cell metadata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54296" y="2240280"/>
            <a:ext cx="384048" cy="320040"/>
          </a:xfrm>
          <a:prstGeom prst="rightArrow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38344" y="1508760"/>
            <a:ext cx="1920240" cy="2057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38344" y="1508760"/>
            <a:ext cx="73152" cy="20574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2936" y="164592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</a:rPr>
              <a:t>Forecast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02936" y="2011680"/>
            <a:ext cx="1627632" cy="1435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Graph-aware GRU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Short-term demand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Risk score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22008" y="2240280"/>
            <a:ext cx="384048" cy="320040"/>
          </a:xfrm>
          <a:prstGeom prst="rightArrow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06056" y="1508760"/>
            <a:ext cx="1920240" cy="2057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06056" y="150876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0648" y="164592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Optimize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70648" y="2011680"/>
            <a:ext cx="1627632" cy="1435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Priority constraints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Valley filling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89720" y="2240280"/>
            <a:ext cx="384048" cy="320040"/>
          </a:xfrm>
          <a:prstGeom prst="rightArrow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73768" y="1508760"/>
            <a:ext cx="1920240" cy="2057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73768" y="1508760"/>
            <a:ext cx="73152" cy="2057400"/>
          </a:xfrm>
          <a:prstGeom prst="rect">
            <a:avLst/>
          </a:prstGeom>
          <a:solidFill>
            <a:srgbClr val="071952"/>
          </a:solidFill>
          <a:ln w="12700">
            <a:solidFill>
              <a:srgbClr val="0719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164592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952"/>
                </a:solidFill>
              </a:rPr>
              <a:t>Explain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38360" y="2011680"/>
            <a:ext cx="1627632" cy="1435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Dash 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LLM chat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Planner recommendations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846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952"/>
                </a:solidFill>
              </a:rPr>
              <a:t>Isolation barrier: outputs are recommendations, heatmaps and schedules only.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1952"/>
          </a:solidFill>
          <a:ln w="12700">
            <a:solidFill>
              <a:srgbClr val="07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 simulation module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F6FF"/>
                </a:solidFill>
              </a:rPr>
              <a:t>Demo-friendly digital twin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Vidyut Prajna prototype • read-only planner sidecar • synthetic demo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58521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800" dirty="0">
                <a:solidFill>
                  <a:srgbClr val="172033"/>
                </a:solidFill>
              </a:rPr>
              <a:t>Generates 15-minute telemetry for multiple days.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Signals: EV demand, traffic intensity, temperature, rain, humidity and transformer/base load.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Zone archetypes: residential, commercial, IT, logistics and mixed.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Synthetic outputs are transparent and replaceable with real OCPP + DTR telemetry.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0" y="109728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097280"/>
            <a:ext cx="73152" cy="91440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22592" y="123444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</a:rPr>
              <a:t>EV demand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22592" y="160020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Daily demand cycles + charger density + traffic + weather effects.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233172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331720"/>
            <a:ext cx="73152" cy="91440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2592" y="246888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A7CE"/>
                </a:solidFill>
              </a:rPr>
              <a:t>Traffic and weather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22592" y="283464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Morning/evening congestion, rain bursts, heat impact and humidity.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35661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3566160"/>
            <a:ext cx="73152" cy="9144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70332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</a:rPr>
              <a:t>Grid load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22592" y="406908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Non-EV base load and transformer capacity per H3 cell.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1952"/>
          </a:solidFill>
          <a:ln w="12700">
            <a:solidFill>
              <a:srgbClr val="07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Spatial modeling with H3 hexagons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F6FF"/>
                </a:solidFill>
              </a:rPr>
              <a:t>Topology-aware city partition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Vidyut Prajna prototype • read-only planner sidecar • synthetic demo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58521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800" dirty="0">
                <a:solidFill>
                  <a:srgbClr val="172033"/>
                </a:solidFill>
              </a:rPr>
              <a:t>Representative Bengaluru zones are expanded into H3 cells.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Each cell stores zone type, coordinates, transformer capacity, charger density and growth score.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Neighbor maps support spatial smoothing and local propagation of risk.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Default demo uses H3 resolution 8; resolution 9 can be enabled for finer ward-scale views.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40880" y="1325880"/>
            <a:ext cx="658368" cy="566928"/>
          </a:xfrm>
          <a:prstGeom prst="hexagon">
            <a:avLst/>
          </a:prstGeom>
          <a:solidFill>
            <a:srgbClr val="0E9F6E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1325880"/>
            <a:ext cx="658368" cy="566928"/>
          </a:xfrm>
          <a:prstGeom prst="hexagon">
            <a:avLst/>
          </a:prstGeom>
          <a:solidFill>
            <a:srgbClr val="19A7CE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1325880"/>
            <a:ext cx="658368" cy="566928"/>
          </a:xfrm>
          <a:prstGeom prst="hexagon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72600" y="1325880"/>
            <a:ext cx="658368" cy="566928"/>
          </a:xfrm>
          <a:prstGeom prst="hexagon">
            <a:avLst/>
          </a:prstGeom>
          <a:solidFill>
            <a:srgbClr val="146C94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24928" y="1984248"/>
            <a:ext cx="658368" cy="566928"/>
          </a:xfrm>
          <a:prstGeom prst="hexagon">
            <a:avLst/>
          </a:prstGeom>
          <a:solidFill>
            <a:srgbClr val="19A7CE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02168" y="1984248"/>
            <a:ext cx="658368" cy="566928"/>
          </a:xfrm>
          <a:prstGeom prst="hexagon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79408" y="1984248"/>
            <a:ext cx="658368" cy="566928"/>
          </a:xfrm>
          <a:prstGeom prst="hexagon">
            <a:avLst/>
          </a:prstGeom>
          <a:solidFill>
            <a:srgbClr val="146C94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56648" y="1984248"/>
            <a:ext cx="658368" cy="566928"/>
          </a:xfrm>
          <a:prstGeom prst="hexagon">
            <a:avLst/>
          </a:prstGeom>
          <a:solidFill>
            <a:srgbClr val="0E9F6E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2642616"/>
            <a:ext cx="658368" cy="566928"/>
          </a:xfrm>
          <a:prstGeom prst="hexagon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2642616"/>
            <a:ext cx="658368" cy="566928"/>
          </a:xfrm>
          <a:prstGeom prst="hexagon">
            <a:avLst/>
          </a:prstGeom>
          <a:solidFill>
            <a:srgbClr val="146C94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2642616"/>
            <a:ext cx="658368" cy="566928"/>
          </a:xfrm>
          <a:prstGeom prst="hexagon">
            <a:avLst/>
          </a:prstGeom>
          <a:solidFill>
            <a:srgbClr val="0E9F6E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72600" y="2642616"/>
            <a:ext cx="658368" cy="566928"/>
          </a:xfrm>
          <a:prstGeom prst="hexagon">
            <a:avLst/>
          </a:prstGeom>
          <a:solidFill>
            <a:srgbClr val="19A7CE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952"/>
                </a:solidFill>
              </a:rPr>
              <a:t>H3 cells become graph nodes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41605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Edges come from H3 neighbors; values come from demand, traffic, weather and grid-load features.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1952"/>
          </a:solidFill>
          <a:ln w="12700">
            <a:solidFill>
              <a:srgbClr val="07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Forecasting model: simplified STGCN equivalent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F6FF"/>
                </a:solidFill>
              </a:rPr>
              <a:t>Lightweight but topology-aware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Vidyut Prajna prototype • read-only planner sidecar • synthetic demo data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" cy="109728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43000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</a:rPr>
              <a:t>Temporal learner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508760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GRU learns short-term demand dynamics from recent time windows.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00584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005840"/>
            <a:ext cx="73152" cy="109728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1143000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</a:rPr>
              <a:t>Spatial signal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25112" y="1508760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H3-neighbor smoothing injects local topology and adjacent-cell effects.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100584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100584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45552" y="1143000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Forecast output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45552" y="1508760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Predicted EV demand per cell and timestamp, used by optimizer.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952"/>
                </a:solidFill>
              </a:rPr>
              <a:t>Features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3154680"/>
            <a:ext cx="45720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00" dirty="0">
                <a:solidFill>
                  <a:srgbClr val="172033"/>
                </a:solidFill>
              </a:rPr>
              <a:t>EV demand history</a:t>
            </a:r>
            <a:endParaRPr lang="en-US" sz="1600" dirty="0"/>
          </a:p>
          <a:p>
            <a:r>
              <a:rPr lang="en-US" sz="1600" dirty="0">
                <a:solidFill>
                  <a:srgbClr val="172033"/>
                </a:solidFill>
              </a:rPr>
              <a:t>Traffic intensity</a:t>
            </a:r>
            <a:endParaRPr lang="en-US" sz="1600" dirty="0"/>
          </a:p>
          <a:p>
            <a:r>
              <a:rPr lang="en-US" sz="1600" dirty="0">
                <a:solidFill>
                  <a:srgbClr val="172033"/>
                </a:solidFill>
              </a:rPr>
              <a:t>Temperature, rain and humidity</a:t>
            </a:r>
            <a:endParaRPr lang="en-US" sz="1600" dirty="0"/>
          </a:p>
          <a:p>
            <a:r>
              <a:rPr lang="en-US" sz="1600" dirty="0">
                <a:solidFill>
                  <a:srgbClr val="172033"/>
                </a:solidFill>
              </a:rPr>
              <a:t>Grid load and risk score</a:t>
            </a:r>
            <a:endParaRPr lang="en-US" sz="1600" dirty="0"/>
          </a:p>
          <a:p>
            <a:r>
              <a:rPr lang="en-US" sz="1600" dirty="0">
                <a:solidFill>
                  <a:srgbClr val="172033"/>
                </a:solidFill>
              </a:rPr>
              <a:t>Cyclical hour/day features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952"/>
                </a:solidFill>
              </a:rPr>
              <a:t>Why not full STGCN in prototype?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75120" y="3154680"/>
            <a:ext cx="43891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00" dirty="0">
                <a:solidFill>
                  <a:srgbClr val="172033"/>
                </a:solidFill>
              </a:rPr>
              <a:t>Avoids heavy graph ML infrastructure.</a:t>
            </a:r>
            <a:endParaRPr lang="en-US" sz="1600" dirty="0"/>
          </a:p>
          <a:p>
            <a:r>
              <a:rPr lang="en-US" sz="1600" dirty="0">
                <a:solidFill>
                  <a:srgbClr val="172033"/>
                </a:solidFill>
              </a:rPr>
              <a:t>Runs locally on laptops.</a:t>
            </a:r>
            <a:endParaRPr lang="en-US" sz="1600" dirty="0"/>
          </a:p>
          <a:p>
            <a:r>
              <a:rPr lang="en-US" sz="1600" dirty="0">
                <a:solidFill>
                  <a:srgbClr val="172033"/>
                </a:solidFill>
              </a:rPr>
              <a:t>Preserves the key product flow: predict → optimize → explain.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1952"/>
          </a:solidFill>
          <a:ln w="12700">
            <a:solidFill>
              <a:srgbClr val="07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Constraint-aware optimization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F6FF"/>
                </a:solidFill>
              </a:rPr>
              <a:t>Lagrangian/MCDM-inspired scheduler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Vidyut Prajna prototype • read-only planner sidecar • synthetic demo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566928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800" dirty="0">
                <a:solidFill>
                  <a:srgbClr val="172033"/>
                </a:solidFill>
              </a:rPr>
              <a:t>Urgent/priority share is served immediately.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Flexible demand is shifted within deadline windows based on vehicle priority and zone type.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Candidate slots are scored by global load, local transformer utilization and delay penalty.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Residual overloads remain visible as risk; no hardware commands are sent.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0" y="1143000"/>
            <a:ext cx="43891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952"/>
                </a:solidFill>
              </a:rPr>
              <a:t>Objective intuition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95160" y="19659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minimize  peak + variance + local stress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subject to priority service + deadlines + transformer headroom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0" y="3703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F6E"/>
                </a:solidFill>
              </a:rPr>
              <a:t>Point of minimum regret: balance grid health with user service level.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1952"/>
          </a:solidFill>
          <a:ln w="12700">
            <a:solidFill>
              <a:srgbClr val="07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Plotly Dash dashboard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F6FF"/>
                </a:solidFill>
              </a:rPr>
              <a:t>Planner command center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Vidyut Prajna prototype • read-only planner sidecar • synthetic demo data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" cy="105156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43000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</a:rPr>
              <a:t>H3 heatmap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508760"/>
            <a:ext cx="3090672" cy="4297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Predicted demand, unmanaged stress, optimized stress and siting score.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23160"/>
            <a:ext cx="73152" cy="10515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560320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</a:rPr>
              <a:t>Load curve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2926080"/>
            <a:ext cx="3090672" cy="4297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Base grid, unmanaged forecast and optimized load across the horizon.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4048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977640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Metrics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4343400"/>
            <a:ext cx="3090672" cy="4297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Peak reduction, variance reduction, stress events and model accuracy.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952"/>
                </a:solidFill>
              </a:rPr>
              <a:t>Dashboard layout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12080" y="182880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</a:rPr>
              <a:t>Map + heatmap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</a:rPr>
              <a:t>Time slider / playback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</a:rPr>
              <a:t>City load graph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</a:rPr>
              <a:t>Top zones table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</a:rPr>
              <a:t>LLM chat panel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1952"/>
          </a:solidFill>
          <a:ln w="12700">
            <a:solidFill>
              <a:srgbClr val="07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LLM integration: UX layer only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F6FF"/>
                </a:solidFill>
              </a:rPr>
              <a:t>Grounded assistant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Vidyut Prajna prototype • read-only planner sidecar • synthetic demo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60350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800" dirty="0">
                <a:solidFill>
                  <a:srgbClr val="172033"/>
                </a:solidFill>
              </a:rPr>
              <a:t>Users can ask: “Which areas will have peak demand tonight?” or “Why is this zone high risk?”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The LLM receives structured JSON context from the current dashboard state.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Prompt rules: do not predict, do not optimize, do not invent numbers or zones.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Without an API key, the app still runs using a deterministic local explanation fallback.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40880" y="114300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1143000"/>
            <a:ext cx="73152" cy="105156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1280160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</a:rPr>
              <a:t>Inputs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1645920"/>
            <a:ext cx="3639312" cy="4297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Selected time, top zones, stress ratios, traffic/weather, metrics.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2560320"/>
            <a:ext cx="73152" cy="10515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5472" y="2697480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</a:rPr>
              <a:t>Outputs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05472" y="3063240"/>
            <a:ext cx="3639312" cy="4297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Human-friendly explanations and planning recommendations.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397764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3977640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4114800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Guardrail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05472" y="4480560"/>
            <a:ext cx="3639312" cy="4297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Forecasting and optimization remain Python modules, not LLM tasks.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1952"/>
          </a:solidFill>
          <a:ln w="12700">
            <a:solidFill>
              <a:srgbClr val="07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Demo results from prototype run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F6FF"/>
                </a:solidFill>
              </a:rPr>
              <a:t>Simulated Bengaluru data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Vidyut Prajna prototype • read-only planner sidecar • synthetic demo data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097280"/>
            <a:ext cx="73152" cy="123444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234440"/>
            <a:ext cx="2907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</a:rPr>
              <a:t>Peak reduction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600200"/>
            <a:ext cx="2907792" cy="6126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Sample run: ~11% reduction in city aggregate peak load.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09728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097280"/>
            <a:ext cx="73152" cy="123444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1234440"/>
            <a:ext cx="2907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</a:rPr>
              <a:t>Variance reduction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07992" y="1600200"/>
            <a:ext cx="2907792" cy="6126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Sample run: large reduction in load variance after valley filling.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09728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09728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9872" y="1234440"/>
            <a:ext cx="2907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Stress events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19872" y="1600200"/>
            <a:ext cx="2907792" cy="6126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Transformer stress events reduce as flexible load shifts to lower-utilization slots.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97180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The exact values depend on synthetic seed, H3 resolution, number of cells and forecast horizon. The dashboard recomputes metrics at startup.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80160" y="5074920"/>
            <a:ext cx="9601200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251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Unmanaged evening peak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6E"/>
                </a:solidFill>
              </a:rPr>
              <a:t>Optimized night valley fill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0" y="4526280"/>
            <a:ext cx="6400800" cy="1005840"/>
          </a:xfrm>
          <a:prstGeom prst="arc">
            <a:avLst/>
          </a:prstGeom>
          <a:noFill/>
          <a:ln w="38100">
            <a:solidFill>
              <a:srgbClr val="0E9F6E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1952"/>
          </a:solidFill>
          <a:ln w="12700">
            <a:solidFill>
              <a:srgbClr val="07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Infrastructure planning output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F6FF"/>
                </a:solidFill>
              </a:rPr>
              <a:t>Future-proof corridors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Vidyut Prajna prototype • read-only planner sidecar • synthetic demo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58521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800" dirty="0">
                <a:solidFill>
                  <a:srgbClr val="172033"/>
                </a:solidFill>
              </a:rPr>
              <a:t>Ranking combines predicted demand, unmanaged stress, traffic/growth and spare capacity.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Cells with high demand and low headroom become immediate planning candidates.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Cells with high demand but good headroom are candidates for charger expansion.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The dashboard surfaces top zones and H3 cells for field validation.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0" y="109728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09728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22592" y="123444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High demand + low headroom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22592" y="160020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Grid reinforcement priority.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233172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331720"/>
            <a:ext cx="73152" cy="9144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2592" y="246888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</a:rPr>
              <a:t>High demand + high headroom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22592" y="283464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Fast charger siting opportunity.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35661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356616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70332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Moderate demand + growth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22592" y="406908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Monitor as future-proof corridor.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1952"/>
          </a:solidFill>
          <a:ln w="12700">
            <a:solidFill>
              <a:srgbClr val="0719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Roadmap and next steps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F6FF"/>
                </a:solidFill>
              </a:rPr>
              <a:t>Prototype → 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Vidyut Prajna prototype • read-only planner sidecar • synthetic demo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640080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800" dirty="0">
                <a:solidFill>
                  <a:srgbClr val="172033"/>
                </a:solidFill>
              </a:rPr>
              <a:t>Phase 1: finalize shadow-pricing objective and validate with synthetic stress tests.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Phase 2: ward-level shadow-mode pilot using real charging, weather, traffic and DTR telemetry.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Phase 3: planner command center for BESCOM infrastructure planning and 2027 buildout analysis.</a:t>
            </a:r>
            <a:endParaRPr lang="en-US" sz="1800" dirty="0"/>
          </a:p>
          <a:p>
            <a:r>
              <a:rPr lang="en-US" sz="1800" dirty="0">
                <a:solidFill>
                  <a:srgbClr val="172033"/>
                </a:solidFill>
              </a:rPr>
              <a:t>Technical upgrades: full STGCN/DCRNN, feeder hierarchy, tariff constraints, charger availability and user SLA rules.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0" y="1325880"/>
            <a:ext cx="1097280" cy="777240"/>
          </a:xfrm>
          <a:prstGeom prst="chevron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99832" y="157276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Concept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06840" y="2606040"/>
            <a:ext cx="1097280" cy="777240"/>
          </a:xfrm>
          <a:prstGeom prst="chevron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34272" y="28529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Prototype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241280" y="3886200"/>
            <a:ext cx="1097280" cy="77724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0" y="413308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Pilot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Vidyut Prajna — AI-Driven Spatio-Temporal Intelligence</dc:title>
  <dc:subject>Vidyut Prajna Prototype</dc:subject>
  <dc:creator>OpenAI</dc:creator>
  <cp:lastModifiedBy>OpenAI</cp:lastModifiedBy>
  <cp:revision>1</cp:revision>
  <dcterms:created xsi:type="dcterms:W3CDTF">2026-05-03T18:25:30Z</dcterms:created>
  <dcterms:modified xsi:type="dcterms:W3CDTF">2026-05-03T18:25:30Z</dcterms:modified>
</cp:coreProperties>
</file>